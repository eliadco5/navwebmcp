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 TLV ·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Development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platform wasn't built for AI. Here's what fixes that.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Director, Priority Hospitality · builder of NavWebMcp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0888" y="23774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0888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83768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composite vs. raw multi-call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49928" y="23774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9928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−73%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32808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latency, composite vs. raw multi-call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98968" y="23774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8968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81848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to test than through a browser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MCP transport · real headless browser · n=5 · production build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those numbers come from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why current development isn't built for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26771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"just add an MCP server" doesn't fix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98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798064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defined — one rule for where logic lives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28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328416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1 — testing in milliseconds, not seconds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58768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58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858768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2 — what it does to your CI bill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389120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3 — the AI-agent development loop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919472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9194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4919472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— NavWebMcp, on top of MCP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449824"/>
            <a:ext cx="10911535" cy="457200"/>
          </a:xfrm>
          <a:prstGeom prst="roundRect">
            <a:avLst>
              <a:gd name="adj" fmla="val 1000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498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449824"/>
            <a:ext cx="9905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the full numbers, end to end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development isn't built for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bolting an agent onto their product hits the same wall.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calls — guesses at a sequence nothing tells it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Non-deterministic — same request, different path each time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back-and-forth — a dozen turns to gather one form's worth of input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connect at all — weeks of bespoke glue just to start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911535" cy="100584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212080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an agent problem. It's an architecture problem: most software was never designed to be consumed — only to be clicked.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FALSE FIX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Bending Your Platform to Fit an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"just add an MCP server" doesn't fix it?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integrations wrap a human-shaped API in tool definitions — one tool per endpoint. The agent still has to: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multiple calls — the wrapper gave it a schema, not less work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 growing context — every call's result reprocessed on the next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your domain from the prompt — sequencing, preconditions, dependencies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10911535" cy="82296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212080"/>
            <a:ext cx="10454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the API is not the same as re-architecting it. MCP is a transport. It was never the fix.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DEFINED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wrote the business logic.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wrote it in the wrong place.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orchestration, business rules — scattered across every onClick, every useEffect, every route handler that happens to need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11535" cy="82296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74720"/>
            <a:ext cx="10454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ADD's one rule: business logic gets its own layer, separate from the UI that triggers it.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function. One place. The UI becomes what it should've been all along — a thin caller.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DEFINED · ON DISK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rule looks like as folders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feature, two layouts — one file tree per approach.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27168" cy="3520440"/>
          </a:xfrm>
          <a:prstGeom prst="roundRect">
            <a:avLst>
              <a:gd name="adj" fmla="val 2078"/>
            </a:avLst>
          </a:prstGeom>
          <a:solidFill>
            <a:srgbClr val="2A1F1B"/>
          </a:solidFill>
          <a:ln w="19050">
            <a:solidFill>
              <a:srgbClr val="D959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5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distributed across the 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678528" cy="146304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BookingApp.tsx     ← validates, fetches inline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FrontDeskPanel.tsx ← same rules, copied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app/api/reserve/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route.ts           ← and again, server-side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46785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place to test. Nothing for an agent to call.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1920240"/>
            <a:ext cx="5227168" cy="3520440"/>
          </a:xfrm>
          <a:prstGeom prst="roundRect">
            <a:avLst>
              <a:gd name="adj" fmla="val 2078"/>
            </a:avLst>
          </a:prstGeom>
          <a:solidFill>
            <a:srgbClr val="1B2530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8768" y="2148840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own the logic, UI just calls 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98768" y="2651760"/>
            <a:ext cx="4678528" cy="196596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    ← thin UI callers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book.ts      ← orchestration logic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registry.ts  ← registers for discovery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api/           ← the calls book() makes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route.ts       ← exposes api/ via MCP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98768" y="4663440"/>
            <a:ext cx="46785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to test, one place for an agent to call — the UI is neither.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10911535" cy="77724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715000"/>
            <a:ext cx="104543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caller — UI, test, agent — enters through the same door. None of them go through each other's.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logic. One place, not forty.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4206240"/>
          </a:xfrm>
          <a:prstGeom prst="roundRect">
            <a:avLst>
              <a:gd name="adj" fmla="val 1739"/>
            </a:avLst>
          </a:prstGeom>
          <a:solidFill>
            <a:srgbClr val="2A1F1B"/>
          </a:solidFill>
          <a:ln w="19050">
            <a:solidFill>
              <a:srgbClr val="D95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1500" b="1" dirty="0">
                <a:solidFill>
                  <a:srgbClr val="D95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lives in the click handler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678528" cy="182880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onClick={async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(!date)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ok = await fetch('/api/check');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(!ok) return showError();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fetch('/api/reserve');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...and again, next screen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4678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in every screen that needs it — each copy one edit away from drifting apart.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227168" cy="4206240"/>
          </a:xfrm>
          <a:prstGeom prst="roundRect">
            <a:avLst>
              <a:gd name="adj" fmla="val 1739"/>
            </a:avLst>
          </a:prstGeom>
          <a:solidFill>
            <a:srgbClr val="1B2530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68" y="1965960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lives in its own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98768" y="2468880"/>
            <a:ext cx="4678528" cy="164592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lib/operations/book.ts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book(input)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(!input.date) throw ValidationError;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ok = await checkAvailability(input);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(!ok) throw UnavailableError;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reserve(input);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98768" y="42519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8768" y="4251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26551" y="42519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6551" y="4251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454335" y="42519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54335" y="4251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98768" y="4846320"/>
            <a:ext cx="46785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function, one set of rules. The UI is just the first caller — not the logic's home.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1 · TESTING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logic, not the DOM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scenario, same validation, same RBAC — one path goes through a real browser, the other calls the operation directly.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64592" cy="164592"/>
          </a:xfrm>
          <a:prstGeom prst="rect">
            <a:avLst/>
          </a:prstGeom>
          <a:solidFill>
            <a:srgbClr val="D959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(browser)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164592" cy="164592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 (direct)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29718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29718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D95926"/>
          </a:solidFill>
          <a:ln/>
        </p:spPr>
      </p:sp>
      <p:sp>
        <p:nvSpPr>
          <p:cNvPr id="14" name="Text 12"/>
          <p:cNvSpPr/>
          <p:nvPr/>
        </p:nvSpPr>
        <p:spPr>
          <a:xfrm>
            <a:off x="10271455" y="2971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 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3410712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3160" y="3410712"/>
            <a:ext cx="46267" cy="365760"/>
          </a:xfrm>
          <a:prstGeom prst="roundRect">
            <a:avLst>
              <a:gd name="adj" fmla="val 98818"/>
            </a:avLst>
          </a:prstGeom>
          <a:solidFill>
            <a:srgbClr val="3987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271455" y="34107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 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776472"/>
            <a:ext cx="1828800" cy="320040"/>
          </a:xfrm>
          <a:prstGeom prst="rect">
            <a:avLst/>
          </a:prstGeom>
          <a:solidFill>
            <a:srgbClr val="1B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437× faster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SEATGUEST()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994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3160" y="4599432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23" name="Shape 21"/>
          <p:cNvSpPr/>
          <p:nvPr/>
        </p:nvSpPr>
        <p:spPr>
          <a:xfrm>
            <a:off x="2423160" y="4599432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D95926"/>
          </a:solidFill>
          <a:ln/>
        </p:spPr>
      </p:sp>
      <p:sp>
        <p:nvSpPr>
          <p:cNvPr id="24" name="Text 22"/>
          <p:cNvSpPr/>
          <p:nvPr/>
        </p:nvSpPr>
        <p:spPr>
          <a:xfrm>
            <a:off x="10271455" y="4599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459 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0383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23160" y="5038344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27" name="Shape 25"/>
          <p:cNvSpPr/>
          <p:nvPr/>
        </p:nvSpPr>
        <p:spPr>
          <a:xfrm>
            <a:off x="2423160" y="5038344"/>
            <a:ext cx="36576" cy="365760"/>
          </a:xfrm>
          <a:prstGeom prst="roundRect">
            <a:avLst>
              <a:gd name="adj" fmla="val 125000"/>
            </a:avLst>
          </a:prstGeom>
          <a:solidFill>
            <a:srgbClr val="3987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271455" y="50383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 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5404104"/>
            <a:ext cx="1828800" cy="320040"/>
          </a:xfrm>
          <a:prstGeom prst="rect">
            <a:avLst/>
          </a:prstGeom>
          <a:solidFill>
            <a:srgbClr val="1B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1,314× faster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9070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HOSTVIPGUEST()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2270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Playwright: no UI exists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5471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23160" y="6547104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34" name="Shape 32"/>
          <p:cNvSpPr/>
          <p:nvPr/>
        </p:nvSpPr>
        <p:spPr>
          <a:xfrm>
            <a:off x="2423160" y="6547104"/>
            <a:ext cx="36576" cy="365760"/>
          </a:xfrm>
          <a:prstGeom prst="roundRect">
            <a:avLst>
              <a:gd name="adj" fmla="val 125000"/>
            </a:avLst>
          </a:prstGeom>
          <a:solidFill>
            <a:srgbClr val="3987E5"/>
          </a:solidFill>
          <a:ln/>
        </p:spPr>
      </p:sp>
      <p:sp>
        <p:nvSpPr>
          <p:cNvPr id="35" name="Text 33"/>
          <p:cNvSpPr/>
          <p:nvPr/>
        </p:nvSpPr>
        <p:spPr>
          <a:xfrm>
            <a:off x="10271455" y="65471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 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141464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those milliseconds is a runner-minute your DevOps team isn't paying for — this is where the FinOps story starts.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FINOPS · THE COST CHAIN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test's cost is invisible. Multiply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388ms test doesn't move a budget. Run on every commit, every PR, every branch — it does.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D0D0D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D0D0D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D0D0D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cost / minute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2377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69680" y="23774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D0D0D"/>
          </a:solidFill>
          <a:ln w="19050">
            <a:solidFill>
              <a:srgbClr val="398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CI bill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suite is thousands of tests, not one — and that number only grows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tests trades away coverage. Cheaper tests doesn't.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911535" cy="91440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29200"/>
            <a:ext cx="104543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tests don't just save a developer a few seconds. They change what your organization can afford to run, and how often.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2 · CI &amp; CLOUD COST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isn't obvious until you do the math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Playwright test needs a real browser: spun up, rendered, torn down. A function call needs none of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BOOK() TESTS — CI RUNNER TIME NEEDED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2651760"/>
            <a:ext cx="734537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9" name="Shape 7"/>
          <p:cNvSpPr/>
          <p:nvPr/>
        </p:nvSpPr>
        <p:spPr>
          <a:xfrm>
            <a:off x="2423160" y="2651760"/>
            <a:ext cx="7345375" cy="365760"/>
          </a:xfrm>
          <a:prstGeom prst="roundRect">
            <a:avLst>
              <a:gd name="adj" fmla="val 12500"/>
            </a:avLst>
          </a:prstGeom>
          <a:solidFill>
            <a:srgbClr val="D95926"/>
          </a:solidFill>
          <a:ln/>
        </p:spPr>
      </p:sp>
      <p:sp>
        <p:nvSpPr>
          <p:cNvPr id="10" name="Text 8"/>
          <p:cNvSpPr/>
          <p:nvPr/>
        </p:nvSpPr>
        <p:spPr>
          <a:xfrm>
            <a:off x="9905695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6.5 minutes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3154680"/>
            <a:ext cx="734537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3154680"/>
            <a:ext cx="36576" cy="365760"/>
          </a:xfrm>
          <a:prstGeom prst="roundRect">
            <a:avLst>
              <a:gd name="adj" fmla="val 125000"/>
            </a:avLst>
          </a:prstGeom>
          <a:solidFill>
            <a:srgbClr val="3987E5"/>
          </a:solidFill>
          <a:ln/>
        </p:spPr>
      </p:sp>
      <p:sp>
        <p:nvSpPr>
          <p:cNvPr id="14" name="Text 12"/>
          <p:cNvSpPr/>
          <p:nvPr/>
        </p:nvSpPr>
        <p:spPr>
          <a:xfrm>
            <a:off x="9905695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second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time only — derived by multiplying Payoff 1's measured per-test duration (388ms vs. 0.89ms) by 1,000 tests. No separate cost benchmark, no $/minute figures claimed.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11535" cy="91440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09160"/>
            <a:ext cx="104543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suite that needs an hour of browser time can run as direct calls in seconds. You're no longer choosing between thorough and affordable.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3 · THE DEVELOPMENT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has to be verified before it's trusted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→ test → read result → fix → run again. Same loop, human or agent.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20574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D95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057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2057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0574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D959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57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browser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2057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0574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D959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057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through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2057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20574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D959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057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iteration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0" y="26060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606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49040" y="26060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operation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2606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260604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D0D0D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606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iterations, same time budget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2918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loop itself is an AI agent driving Playwright, it compounds twice — it has to re-read the page after every click too: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8404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READ PER VERIFICATION, BOOKING 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23160" y="416052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33" name="Shape 31"/>
          <p:cNvSpPr/>
          <p:nvPr/>
        </p:nvSpPr>
        <p:spPr>
          <a:xfrm>
            <a:off x="2423160" y="4160520"/>
            <a:ext cx="123378" cy="365760"/>
          </a:xfrm>
          <a:prstGeom prst="roundRect">
            <a:avLst>
              <a:gd name="adj" fmla="val 37057"/>
            </a:avLst>
          </a:prstGeom>
          <a:solidFill>
            <a:srgbClr val="3987E5"/>
          </a:solidFill>
          <a:ln/>
        </p:spPr>
      </p:sp>
      <p:sp>
        <p:nvSpPr>
          <p:cNvPr id="34" name="Text 32"/>
          <p:cNvSpPr/>
          <p:nvPr/>
        </p:nvSpPr>
        <p:spPr>
          <a:xfrm>
            <a:off x="10271455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tok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4663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Playwright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23160" y="466344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37" name="Shape 35"/>
          <p:cNvSpPr/>
          <p:nvPr/>
        </p:nvSpPr>
        <p:spPr>
          <a:xfrm>
            <a:off x="2423160" y="466344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D95926"/>
          </a:solidFill>
          <a:ln/>
        </p:spPr>
      </p:sp>
      <p:sp>
        <p:nvSpPr>
          <p:cNvPr id="38" name="Text 36"/>
          <p:cNvSpPr/>
          <p:nvPr/>
        </p:nvSpPr>
        <p:spPr>
          <a:xfrm>
            <a:off x="10271455" y="4663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5,721 tok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5212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~63× more tokens just to observe the page — a fresh accessibility snapshot after every click.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623560"/>
            <a:ext cx="10911535" cy="96012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715000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the agent got smarter. Because the loop it depends on got 100–1,000× tighter — and stopped paying a re-read tax on every step.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· SO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up to now made you faster.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CI cost, the dev loop — all payoffs for the team writing the code.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platform has a second user: an AI agent, acting on someone else's behalf.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operations layer. A different caller.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NavWebMcp — MCP as transport, not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business logic already lives in its own layer, exposing it to an agent is the easy part.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operations — one call replaces three or seven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— a handful of tools at connect, the rest on demand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&amp; confirmation, enforced once — same checks your UI already respects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registry, two surfaces — nothing re-implemented as "the agent version"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10911535" cy="82296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120640"/>
            <a:ext cx="10454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did the architecture right, this layer is nearly mechanical to add. That's the point.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· UNDER THE HOOD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meta-tools. Nothing else to install.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22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2271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— walk the module tree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— glob for operations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describe_tool — get the schema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4448" y="1920240"/>
            <a:ext cx="522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SESSION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4448" y="2286000"/>
            <a:ext cx="52271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— call any op directly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load_tools / unload_tools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getContext / getCapabilities — preflight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REGISTRATION, ALL EIGHT TOOLS READ 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10911535" cy="1874520"/>
          </a:xfrm>
          <a:prstGeom prst="rect">
            <a:avLst/>
          </a:prstGeom>
          <a:solidFill>
            <a:srgbClr val="1A1A1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defineOperation({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"book",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"Book a table in ONE step: find a slot, reserve, validate.",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inputSchema: { date, time, partySize, name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permission: "write",             // read | write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roles: ["customer", "support", "admin"],  // who can call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module: "reservation.booking",  // where it lives in the tree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handler: (input, ctx) =&gt; bookOrchestration(input, ctx)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6035040"/>
            <a:ext cx="10911535" cy="68580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612648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completely standard MCP client — Claude Desktop, Claude Code, MCP Inspector. No custom transport. No fork. No special build.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BOOKING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per booking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booking, three ways: raw MCP, raw WebMCP, and one NavWebMcp composite call.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2860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22860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898781"/>
          </a:solidFill>
          <a:ln/>
        </p:spPr>
      </p:sp>
      <p:sp>
        <p:nvSpPr>
          <p:cNvPr id="9" name="Text 7"/>
          <p:cNvSpPr/>
          <p:nvPr/>
        </p:nvSpPr>
        <p:spPr>
          <a:xfrm>
            <a:off x="10271455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 tok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WebMCP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278892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2788920"/>
            <a:ext cx="5459484" cy="365760"/>
          </a:xfrm>
          <a:prstGeom prst="roundRect">
            <a:avLst>
              <a:gd name="adj" fmla="val 12500"/>
            </a:avLst>
          </a:prstGeom>
          <a:solidFill>
            <a:srgbClr val="8987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271455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 tok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NavWebMcp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329184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3291840"/>
            <a:ext cx="1920073" cy="365760"/>
          </a:xfrm>
          <a:prstGeom prst="roundRect">
            <a:avLst>
              <a:gd name="adj" fmla="val 12500"/>
            </a:avLst>
          </a:prstGeom>
          <a:solidFill>
            <a:srgbClr val="3987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271455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tok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64592" cy="164592"/>
          </a:xfrm>
          <a:prstGeom prst="rect">
            <a:avLst/>
          </a:prstGeom>
          <a:solidFill>
            <a:srgbClr val="89878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multi-call (3 calls)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931920"/>
            <a:ext cx="164592" cy="164592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NavWebMcp composite (1 call)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10911535" cy="91440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72000"/>
            <a:ext cx="104543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−75% tokens vs. raw calls over MCP, −65% vs. the same raw calls made from inside the browser — one composite call beats raw multi-call on every surface.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BOOKING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booking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shown separately — a different way of interacting with the app entirely.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MCP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2860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2286000"/>
            <a:ext cx="2891676" cy="365760"/>
          </a:xfrm>
          <a:prstGeom prst="roundRect">
            <a:avLst>
              <a:gd name="adj" fmla="val 12500"/>
            </a:avLst>
          </a:prstGeom>
          <a:solidFill>
            <a:srgbClr val="898781"/>
          </a:solidFill>
          <a:ln/>
        </p:spPr>
      </p:sp>
      <p:sp>
        <p:nvSpPr>
          <p:cNvPr id="9" name="Text 7"/>
          <p:cNvSpPr/>
          <p:nvPr/>
        </p:nvSpPr>
        <p:spPr>
          <a:xfrm>
            <a:off x="10271455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WebMCP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278892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278892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8987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271455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NavWebMcp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329184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3291840"/>
            <a:ext cx="963892" cy="365760"/>
          </a:xfrm>
          <a:prstGeom prst="roundRect">
            <a:avLst>
              <a:gd name="adj" fmla="val 12500"/>
            </a:avLst>
          </a:prstGeom>
          <a:solidFill>
            <a:srgbClr val="3987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271455" y="3291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(UI)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23160" y="38862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2C2C2A"/>
          </a:solidFill>
          <a:ln/>
        </p:spPr>
      </p:sp>
      <p:sp>
        <p:nvSpPr>
          <p:cNvPr id="20" name="Shape 18"/>
          <p:cNvSpPr/>
          <p:nvPr/>
        </p:nvSpPr>
        <p:spPr>
          <a:xfrm>
            <a:off x="2423160" y="3886200"/>
            <a:ext cx="7711135" cy="365760"/>
          </a:xfrm>
          <a:prstGeom prst="roundRect">
            <a:avLst>
              <a:gd name="adj" fmla="val 12500"/>
            </a:avLst>
          </a:prstGeom>
          <a:solidFill>
            <a:srgbClr val="D959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271455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 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scaled on its own axis (max = 342ms) — not directly comparable to the rows above.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911535" cy="91440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029200"/>
            <a:ext cx="104543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−67% latency vs. raw MCP, −88% vs. the same raw calls made from a browser page — the composite call wins even against the surface it's supposedly "slower" 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IT COMPOUNDS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the flow, the bigger the win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173736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987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987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987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Composite 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987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saving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987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saving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 — 3-op booking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 — book + seat a guest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vip — 7-op chain, CRM + front desk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CA3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0233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has no Playwright row — no UI exists for that domain. A limit browser automation has that a composite call doesn't.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payoffs, one architecture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</a:t>
            </a:r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calls instead of a browser — up to 1,314× faster per test.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258568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FinOps: </a:t>
            </a:r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separation lets every commit run every test without your cloud bill or your CI queue noticing.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825496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loop: </a:t>
            </a:r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tight loop that helps your tests helps your AI coding agent iterate — 100–1,000× tighter.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392424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</a:t>
            </a:r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NavWebMcp, a thin layer on top of MCP, makes agent-exposure mechanical instead of a redesign.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959352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</a:t>
            </a:r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−68 to −75% tokens, −67 to −87% latency, measured on the exact operations your UI already calls.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911535" cy="914400"/>
          </a:xfrm>
          <a:prstGeom prst="rect">
            <a:avLst/>
          </a:prstGeom>
          <a:solidFill>
            <a:srgbClr val="0D0D0D"/>
          </a:solidFill>
          <a:ln w="38100">
            <a:solidFill>
              <a:srgbClr val="398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54880"/>
            <a:ext cx="104543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started with "add an MCP server." It started with a much older, much less glamorous decision: where does your business logic actually live?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bend your platform to fit AI.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stop making AI the first thing that has to bend.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— AI-Driven Development</a:t>
            </a:r>
            <a:pPr algn="ctr" indent="0" marL="0">
              <a:buNone/>
            </a:pPr>
            <a:r>
              <a:rPr lang="en-US" sz="1400" dirty="0">
                <a:solidFill>
                  <a:srgbClr val="898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pPr algn="ctr"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2026-08-06T08:19:49Z</dcterms:created>
  <dcterms:modified xsi:type="dcterms:W3CDTF">2026-08-06T08:19:49Z</dcterms:modified>
</cp:coreProperties>
</file>