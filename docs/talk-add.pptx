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71630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28655" y="274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DEV TLV · 2026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AI-Driven Development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416052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platform wasn't built for AI. Here's what fixes that.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603504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R&amp;D Director, Priority Hospitality · builder of NavWebMcp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28655" y="274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00888" y="2377440"/>
            <a:ext cx="3291840" cy="1828800"/>
          </a:xfrm>
          <a:prstGeom prst="roundRect">
            <a:avLst>
              <a:gd name="adj" fmla="val 400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" name="Text 2"/>
          <p:cNvSpPr/>
          <p:nvPr/>
        </p:nvSpPr>
        <p:spPr>
          <a:xfrm>
            <a:off x="700888" y="26060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−80%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83768" y="34290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tokens, composite vs. raw multi-call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449928" y="2377440"/>
            <a:ext cx="3291840" cy="1828800"/>
          </a:xfrm>
          <a:prstGeom prst="roundRect">
            <a:avLst>
              <a:gd name="adj" fmla="val 400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4449928" y="26060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−73%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632808" y="34290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latency, composite vs. raw multi-call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98968" y="2377440"/>
            <a:ext cx="3291840" cy="1828800"/>
          </a:xfrm>
          <a:prstGeom prst="roundRect">
            <a:avLst>
              <a:gd name="adj" fmla="val 400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0" name="Text 8"/>
          <p:cNvSpPr/>
          <p:nvPr/>
        </p:nvSpPr>
        <p:spPr>
          <a:xfrm>
            <a:off x="8198968" y="26060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437×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8381848" y="34290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to test than through a browser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66344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MCP transport · real headless browser · n=5 · production build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28655" y="274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those numbers come from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63040" y="1737360"/>
            <a:ext cx="9905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— why current development isn't built for AI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267712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9" name="Text 7"/>
          <p:cNvSpPr/>
          <p:nvPr/>
        </p:nvSpPr>
        <p:spPr>
          <a:xfrm>
            <a:off x="822960" y="22677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63040" y="2267712"/>
            <a:ext cx="9905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"just add an MCP server" doesn't fix it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798064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2" name="Text 10"/>
          <p:cNvSpPr/>
          <p:nvPr/>
        </p:nvSpPr>
        <p:spPr>
          <a:xfrm>
            <a:off x="822960" y="279806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63040" y="2798064"/>
            <a:ext cx="9905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ADD, defined — one rule for where logic lives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328416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5" name="Text 13"/>
          <p:cNvSpPr/>
          <p:nvPr/>
        </p:nvSpPr>
        <p:spPr>
          <a:xfrm>
            <a:off x="822960" y="332841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328416"/>
            <a:ext cx="9905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Payoff 1 — testing in milliseconds, not seconds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3858768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8" name="Text 16"/>
          <p:cNvSpPr/>
          <p:nvPr/>
        </p:nvSpPr>
        <p:spPr>
          <a:xfrm>
            <a:off x="822960" y="385876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63040" y="3858768"/>
            <a:ext cx="9905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Payoff 2 — what it does to your CI bill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4389120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1" name="Text 19"/>
          <p:cNvSpPr/>
          <p:nvPr/>
        </p:nvSpPr>
        <p:spPr>
          <a:xfrm>
            <a:off x="822960" y="43891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63040" y="4389120"/>
            <a:ext cx="9905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Payoff 3 — the AI-agent development loop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4919472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4" name="Text 22"/>
          <p:cNvSpPr/>
          <p:nvPr/>
        </p:nvSpPr>
        <p:spPr>
          <a:xfrm>
            <a:off x="822960" y="491947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63040" y="4919472"/>
            <a:ext cx="9905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protocol — NavWebMcp, on top of MCP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" y="5449824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7" name="Text 25"/>
          <p:cNvSpPr/>
          <p:nvPr/>
        </p:nvSpPr>
        <p:spPr>
          <a:xfrm>
            <a:off x="822960" y="544982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5449824"/>
            <a:ext cx="9905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 — the full numbers, end to end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28655" y="274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development isn't built for AI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team bolting an agent onto their product hits the same wall.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1153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Hallucinated calls — guesses at a sequence nothing tells it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Non-deterministic — same request, different path each time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Endless back-and-forth — a dozen turns to gather one form's worth of input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Doesn't connect at all — weeks of bespoke glue just to start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5120640"/>
            <a:ext cx="10911535" cy="1005840"/>
          </a:xfrm>
          <a:prstGeom prst="rect">
            <a:avLst/>
          </a:prstGeom>
          <a:solidFill>
            <a:srgbClr val="0D0D0D"/>
          </a:solidFill>
          <a:ln w="38100">
            <a:solidFill>
              <a:srgbClr val="3987E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Text 6"/>
          <p:cNvSpPr/>
          <p:nvPr/>
        </p:nvSpPr>
        <p:spPr>
          <a:xfrm>
            <a:off x="868680" y="5212080"/>
            <a:ext cx="104543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not an agent problem. It's an architecture problem: most software was never designed to be consumed — only to be clicked.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28655" y="274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FALSE FIX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Bending Your Platform to Fit an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"just add an MCP server" doesn't fix it?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integrations wrap a human-shaped API in tool definitions — one tool per endpoint. The agent still has to: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1091153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Orchestrate multiple calls — the wrapper gave it a schema, not less work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Re-read growing context — every call's result reprocessed on the next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your domain from the prompt — sequencing, preconditions, dependencies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10911535" cy="822960"/>
          </a:xfrm>
          <a:prstGeom prst="rect">
            <a:avLst/>
          </a:prstGeom>
          <a:solidFill>
            <a:srgbClr val="0D0D0D"/>
          </a:solidFill>
          <a:ln w="38100">
            <a:solidFill>
              <a:srgbClr val="3987E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9" name="Text 7"/>
          <p:cNvSpPr/>
          <p:nvPr/>
        </p:nvSpPr>
        <p:spPr>
          <a:xfrm>
            <a:off x="868680" y="5212080"/>
            <a:ext cx="10454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Wrapping the API is not the same as re-architecting it. MCP is a transport. It was never the fix.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28655" y="274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ADD, DEFINED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already wrote the business logic.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just wrote it in the wrong place.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Validation, orchestration, business rules — scattered across every onClick, every useEffect, every route handler that happens to need them.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911535" cy="822960"/>
          </a:xfrm>
          <a:prstGeom prst="rect">
            <a:avLst/>
          </a:prstGeom>
          <a:solidFill>
            <a:srgbClr val="0D0D0D"/>
          </a:solidFill>
          <a:ln w="38100">
            <a:solidFill>
              <a:srgbClr val="3987E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Text 6"/>
          <p:cNvSpPr/>
          <p:nvPr/>
        </p:nvSpPr>
        <p:spPr>
          <a:xfrm>
            <a:off x="868680" y="3474720"/>
            <a:ext cx="10454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ADD's one rule: business logic gets its own layer, separate from the UI that triggers it.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448056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function. One place. The UI becomes what it should've been all along — a thin caller.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28655" y="274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logic. One place, not forty.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227168" cy="4206240"/>
          </a:xfrm>
          <a:prstGeom prst="roundRect">
            <a:avLst>
              <a:gd name="adj" fmla="val 1739"/>
            </a:avLst>
          </a:prstGeom>
          <a:solidFill>
            <a:srgbClr val="2A1F1B"/>
          </a:solidFill>
          <a:ln w="19050">
            <a:solidFill>
              <a:srgbClr val="D95926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467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59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Logic lives in the click handler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4678528" cy="1828800"/>
          </a:xfrm>
          <a:prstGeom prst="rect">
            <a:avLst/>
          </a:prstGeom>
          <a:solidFill>
            <a:srgbClr val="0D0D0D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3C2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 onClick={async () =&gt;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3C2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(!date) return;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3C2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ok = await fetch('/api/check');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3C2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(!ok) return showError();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3C2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fetch('/api/reserve');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3C2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...and again, next screen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3C2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}}&gt;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480560"/>
            <a:ext cx="467852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Repeated in every screen that needs it — each copy one edit away from drifting apart.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24448" y="1737360"/>
            <a:ext cx="5227168" cy="4206240"/>
          </a:xfrm>
          <a:prstGeom prst="roundRect">
            <a:avLst>
              <a:gd name="adj" fmla="val 1739"/>
            </a:avLst>
          </a:prstGeom>
          <a:solidFill>
            <a:srgbClr val="1B2530"/>
          </a:solidFill>
          <a:ln w="19050">
            <a:solidFill>
              <a:srgbClr val="3987E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0" name="Text 8"/>
          <p:cNvSpPr/>
          <p:nvPr/>
        </p:nvSpPr>
        <p:spPr>
          <a:xfrm>
            <a:off x="6598768" y="1965960"/>
            <a:ext cx="467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Logic lives in its own layer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98768" y="2468880"/>
            <a:ext cx="4678528" cy="1645920"/>
          </a:xfrm>
          <a:prstGeom prst="rect">
            <a:avLst/>
          </a:prstGeom>
          <a:solidFill>
            <a:srgbClr val="0D0D0D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3C2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lib/operations/book.ts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3C2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async function book(input)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3C2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(!input.date) throw ValidationError;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3C2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ok = await checkAvailability(input);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3C2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(!ok) throw UnavailableError;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3C2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reserve(input);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3C2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98768" y="4251960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0D0D0D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3" name="Text 11"/>
          <p:cNvSpPr/>
          <p:nvPr/>
        </p:nvSpPr>
        <p:spPr>
          <a:xfrm>
            <a:off x="6598768" y="425196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26551" y="4251960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0D0D0D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5" name="Text 13"/>
          <p:cNvSpPr/>
          <p:nvPr/>
        </p:nvSpPr>
        <p:spPr>
          <a:xfrm>
            <a:off x="8526551" y="425196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454335" y="4251960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0D0D0D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Text 15"/>
          <p:cNvSpPr/>
          <p:nvPr/>
        </p:nvSpPr>
        <p:spPr>
          <a:xfrm>
            <a:off x="10454335" y="425196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98768" y="4846320"/>
            <a:ext cx="467852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function, one set of rules. The UI is just the first caller — not the logic's home.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28655" y="274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PAYOFF 1 · TESTING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the logic, not the DOM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scenario, same validation, same RBAC — one path goes through a real browser, the other calls the operation directly.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164592" cy="164592"/>
          </a:xfrm>
          <a:prstGeom prst="rect">
            <a:avLst/>
          </a:prstGeom>
          <a:solidFill>
            <a:srgbClr val="D95926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868680" y="2103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Playwright (browser)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2148840"/>
            <a:ext cx="164592" cy="164592"/>
          </a:xfrm>
          <a:prstGeom prst="rect">
            <a:avLst/>
          </a:prstGeom>
          <a:solidFill>
            <a:srgbClr val="3987E5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9" name="Text 7"/>
          <p:cNvSpPr/>
          <p:nvPr/>
        </p:nvSpPr>
        <p:spPr>
          <a:xfrm>
            <a:off x="3611880" y="21031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call (direct)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651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BOOK()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971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Playwright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23160" y="2971800"/>
            <a:ext cx="7711135" cy="365760"/>
          </a:xfrm>
          <a:prstGeom prst="roundRect">
            <a:avLst>
              <a:gd name="adj" fmla="val 12500"/>
            </a:avLst>
          </a:prstGeom>
          <a:solidFill>
            <a:srgbClr val="2C2C2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3" name="Shape 11"/>
          <p:cNvSpPr/>
          <p:nvPr/>
        </p:nvSpPr>
        <p:spPr>
          <a:xfrm>
            <a:off x="2423160" y="2971800"/>
            <a:ext cx="7711135" cy="365760"/>
          </a:xfrm>
          <a:prstGeom prst="roundRect">
            <a:avLst>
              <a:gd name="adj" fmla="val 12500"/>
            </a:avLst>
          </a:prstGeom>
          <a:solidFill>
            <a:srgbClr val="D95926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4" name="Text 12"/>
          <p:cNvSpPr/>
          <p:nvPr/>
        </p:nvSpPr>
        <p:spPr>
          <a:xfrm>
            <a:off x="10271455" y="29718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388 ms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41071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423160" y="3410712"/>
            <a:ext cx="7711135" cy="365760"/>
          </a:xfrm>
          <a:prstGeom prst="roundRect">
            <a:avLst>
              <a:gd name="adj" fmla="val 12500"/>
            </a:avLst>
          </a:prstGeom>
          <a:solidFill>
            <a:srgbClr val="2C2C2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7" name="Shape 15"/>
          <p:cNvSpPr/>
          <p:nvPr/>
        </p:nvSpPr>
        <p:spPr>
          <a:xfrm>
            <a:off x="2423160" y="3410712"/>
            <a:ext cx="46267" cy="365760"/>
          </a:xfrm>
          <a:prstGeom prst="roundRect">
            <a:avLst>
              <a:gd name="adj" fmla="val 98818"/>
            </a:avLst>
          </a:prstGeom>
          <a:solidFill>
            <a:srgbClr val="3987E5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8" name="Text 16"/>
          <p:cNvSpPr/>
          <p:nvPr/>
        </p:nvSpPr>
        <p:spPr>
          <a:xfrm>
            <a:off x="10271455" y="3410712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 ms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468880" y="3776472"/>
            <a:ext cx="1828800" cy="320040"/>
          </a:xfrm>
          <a:prstGeom prst="rect">
            <a:avLst/>
          </a:prstGeom>
          <a:solidFill>
            <a:srgbClr val="1B253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437× faster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42793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SEATGUEST()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" y="459943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Playwright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423160" y="4599432"/>
            <a:ext cx="7711135" cy="365760"/>
          </a:xfrm>
          <a:prstGeom prst="roundRect">
            <a:avLst>
              <a:gd name="adj" fmla="val 12500"/>
            </a:avLst>
          </a:prstGeom>
          <a:solidFill>
            <a:srgbClr val="2C2C2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3" name="Shape 21"/>
          <p:cNvSpPr/>
          <p:nvPr/>
        </p:nvSpPr>
        <p:spPr>
          <a:xfrm>
            <a:off x="2423160" y="4599432"/>
            <a:ext cx="7711135" cy="365760"/>
          </a:xfrm>
          <a:prstGeom prst="roundRect">
            <a:avLst>
              <a:gd name="adj" fmla="val 12500"/>
            </a:avLst>
          </a:prstGeom>
          <a:solidFill>
            <a:srgbClr val="D95926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4" name="Text 22"/>
          <p:cNvSpPr/>
          <p:nvPr/>
        </p:nvSpPr>
        <p:spPr>
          <a:xfrm>
            <a:off x="10271455" y="4599432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459 ms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5038344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423160" y="5038344"/>
            <a:ext cx="7711135" cy="365760"/>
          </a:xfrm>
          <a:prstGeom prst="roundRect">
            <a:avLst>
              <a:gd name="adj" fmla="val 12500"/>
            </a:avLst>
          </a:prstGeom>
          <a:solidFill>
            <a:srgbClr val="2C2C2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7" name="Shape 25"/>
          <p:cNvSpPr/>
          <p:nvPr/>
        </p:nvSpPr>
        <p:spPr>
          <a:xfrm>
            <a:off x="2423160" y="5038344"/>
            <a:ext cx="36576" cy="365760"/>
          </a:xfrm>
          <a:prstGeom prst="roundRect">
            <a:avLst>
              <a:gd name="adj" fmla="val 125000"/>
            </a:avLst>
          </a:prstGeom>
          <a:solidFill>
            <a:srgbClr val="3987E5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8" name="Text 26"/>
          <p:cNvSpPr/>
          <p:nvPr/>
        </p:nvSpPr>
        <p:spPr>
          <a:xfrm>
            <a:off x="10271455" y="5038344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0.35 ms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468880" y="5404104"/>
            <a:ext cx="1828800" cy="320040"/>
          </a:xfrm>
          <a:prstGeom prst="rect">
            <a:avLst/>
          </a:prstGeom>
          <a:solidFill>
            <a:srgbClr val="1B253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1,314× faster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" y="59070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HOSTVIPGUEST()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" y="622706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Playwright: no UI exists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" y="6547104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423160" y="6547104"/>
            <a:ext cx="7711135" cy="365760"/>
          </a:xfrm>
          <a:prstGeom prst="roundRect">
            <a:avLst>
              <a:gd name="adj" fmla="val 12500"/>
            </a:avLst>
          </a:prstGeom>
          <a:solidFill>
            <a:srgbClr val="2C2C2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4" name="Shape 32"/>
          <p:cNvSpPr/>
          <p:nvPr/>
        </p:nvSpPr>
        <p:spPr>
          <a:xfrm>
            <a:off x="2423160" y="6547104"/>
            <a:ext cx="36576" cy="365760"/>
          </a:xfrm>
          <a:prstGeom prst="roundRect">
            <a:avLst>
              <a:gd name="adj" fmla="val 125000"/>
            </a:avLst>
          </a:prstGeom>
          <a:solidFill>
            <a:srgbClr val="3987E5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5" name="Text 33"/>
          <p:cNvSpPr/>
          <p:nvPr/>
        </p:nvSpPr>
        <p:spPr>
          <a:xfrm>
            <a:off x="10271455" y="6547104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0.18 ms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" y="7141464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one of those milliseconds is a runner-minute your DevOps team isn't paying for — this is where the FinOps story starts.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28655" y="274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DEVOPS &amp; FINOPS · THE COST CHAIN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test's cost is invisible. Multiply it.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388ms test doesn't move a budget. Run on every commit, every PR, every branch — it does.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2286000" cy="502920"/>
          </a:xfrm>
          <a:prstGeom prst="roundRect">
            <a:avLst>
              <a:gd name="adj" fmla="val 14545"/>
            </a:avLst>
          </a:prstGeom>
          <a:solidFill>
            <a:srgbClr val="0D0D0D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duration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926080" y="2377440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383280" y="2377440"/>
            <a:ext cx="2286000" cy="502920"/>
          </a:xfrm>
          <a:prstGeom prst="roundRect">
            <a:avLst>
              <a:gd name="adj" fmla="val 14545"/>
            </a:avLst>
          </a:prstGeom>
          <a:solidFill>
            <a:srgbClr val="0D0D0D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0" name="Text 8"/>
          <p:cNvSpPr/>
          <p:nvPr/>
        </p:nvSpPr>
        <p:spPr>
          <a:xfrm>
            <a:off x="3383280" y="23774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tests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0" y="2377440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26480" y="2377440"/>
            <a:ext cx="2286000" cy="502920"/>
          </a:xfrm>
          <a:prstGeom prst="roundRect">
            <a:avLst>
              <a:gd name="adj" fmla="val 14545"/>
            </a:avLst>
          </a:prstGeom>
          <a:solidFill>
            <a:srgbClr val="0D0D0D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3" name="Text 11"/>
          <p:cNvSpPr/>
          <p:nvPr/>
        </p:nvSpPr>
        <p:spPr>
          <a:xfrm>
            <a:off x="6126480" y="23774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runner cost / minute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0" y="2377440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869680" y="2377440"/>
            <a:ext cx="2286000" cy="502920"/>
          </a:xfrm>
          <a:prstGeom prst="roundRect">
            <a:avLst>
              <a:gd name="adj" fmla="val 14545"/>
            </a:avLst>
          </a:prstGeom>
          <a:solidFill>
            <a:srgbClr val="0D0D0D"/>
          </a:solidFill>
          <a:ln w="19050">
            <a:solidFill>
              <a:srgbClr val="3987E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6" name="Text 14"/>
          <p:cNvSpPr/>
          <p:nvPr/>
        </p:nvSpPr>
        <p:spPr>
          <a:xfrm>
            <a:off x="8869680" y="23774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CI bill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38328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suite is thousands of tests, not one — and that number only grows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tests trades away coverage. Cheaper tests doesn't.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4937760"/>
            <a:ext cx="10911535" cy="914400"/>
          </a:xfrm>
          <a:prstGeom prst="rect">
            <a:avLst/>
          </a:prstGeom>
          <a:solidFill>
            <a:srgbClr val="0D0D0D"/>
          </a:solidFill>
          <a:ln w="38100">
            <a:solidFill>
              <a:srgbClr val="3987E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9" name="Text 17"/>
          <p:cNvSpPr/>
          <p:nvPr/>
        </p:nvSpPr>
        <p:spPr>
          <a:xfrm>
            <a:off x="868680" y="5029200"/>
            <a:ext cx="104543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tests don't just save a developer a few seconds. They change what your organization can afford to run, and how often.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28655" y="274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PAYOFF 2 · CI &amp; CLOUD COST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isn't obvious until you do the math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Playwright test needs a real browser: spun up, rendered, torn down. A function call needs none of it.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BOOK() TESTS — CI RUNNER TIME NEEDED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Playwright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423160" y="2651760"/>
            <a:ext cx="7345375" cy="365760"/>
          </a:xfrm>
          <a:prstGeom prst="roundRect">
            <a:avLst>
              <a:gd name="adj" fmla="val 12500"/>
            </a:avLst>
          </a:prstGeom>
          <a:solidFill>
            <a:srgbClr val="2C2C2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9" name="Shape 7"/>
          <p:cNvSpPr/>
          <p:nvPr/>
        </p:nvSpPr>
        <p:spPr>
          <a:xfrm>
            <a:off x="2423160" y="2651760"/>
            <a:ext cx="7345375" cy="365760"/>
          </a:xfrm>
          <a:prstGeom prst="roundRect">
            <a:avLst>
              <a:gd name="adj" fmla="val 12500"/>
            </a:avLst>
          </a:prstGeom>
          <a:solidFill>
            <a:srgbClr val="D95926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" name="Text 8"/>
          <p:cNvSpPr/>
          <p:nvPr/>
        </p:nvSpPr>
        <p:spPr>
          <a:xfrm>
            <a:off x="9905695" y="26517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6.5 minutes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1546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call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23160" y="3154680"/>
            <a:ext cx="7345375" cy="365760"/>
          </a:xfrm>
          <a:prstGeom prst="roundRect">
            <a:avLst>
              <a:gd name="adj" fmla="val 12500"/>
            </a:avLst>
          </a:prstGeom>
          <a:solidFill>
            <a:srgbClr val="2C2C2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3" name="Shape 11"/>
          <p:cNvSpPr/>
          <p:nvPr/>
        </p:nvSpPr>
        <p:spPr>
          <a:xfrm>
            <a:off x="2423160" y="3154680"/>
            <a:ext cx="36576" cy="365760"/>
          </a:xfrm>
          <a:prstGeom prst="roundRect">
            <a:avLst>
              <a:gd name="adj" fmla="val 125000"/>
            </a:avLst>
          </a:prstGeom>
          <a:solidFill>
            <a:srgbClr val="3987E5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4" name="Text 12"/>
          <p:cNvSpPr/>
          <p:nvPr/>
        </p:nvSpPr>
        <p:spPr>
          <a:xfrm>
            <a:off x="9905695" y="31546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 second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79476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Runner time only — derived by multiplying Payoff 1's measured per-test duration (388ms vs. 0.89ms) by 1,000 tests. No separate cost benchmark, no $/minute figures claimed.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17720"/>
            <a:ext cx="10911535" cy="914400"/>
          </a:xfrm>
          <a:prstGeom prst="rect">
            <a:avLst/>
          </a:prstGeom>
          <a:solidFill>
            <a:srgbClr val="0D0D0D"/>
          </a:solidFill>
          <a:ln w="38100">
            <a:solidFill>
              <a:srgbClr val="3987E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Text 15"/>
          <p:cNvSpPr/>
          <p:nvPr/>
        </p:nvSpPr>
        <p:spPr>
          <a:xfrm>
            <a:off x="868680" y="4709160"/>
            <a:ext cx="104543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suite that needs an hour of browser time can run as direct calls in seconds. You're no longer choosing between thorough and affordable.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28655" y="274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PAYOFF 3 · THE DEVELOPMENT LOOP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change has to be verified before it's trusted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→ test → read result → fix → run again. Same loop, human or agent.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011680" y="2057400"/>
            <a:ext cx="1371600" cy="411480"/>
          </a:xfrm>
          <a:prstGeom prst="roundRect">
            <a:avLst>
              <a:gd name="adj" fmla="val 13333"/>
            </a:avLst>
          </a:prstGeom>
          <a:solidFill>
            <a:srgbClr val="0D0D0D"/>
          </a:solidFill>
          <a:ln w="12700">
            <a:solidFill>
              <a:srgbClr val="D95926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Text 6"/>
          <p:cNvSpPr/>
          <p:nvPr/>
        </p:nvSpPr>
        <p:spPr>
          <a:xfrm>
            <a:off x="2011680" y="205740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29000" y="205740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749040" y="2057400"/>
            <a:ext cx="1371600" cy="411480"/>
          </a:xfrm>
          <a:prstGeom prst="roundRect">
            <a:avLst>
              <a:gd name="adj" fmla="val 13333"/>
            </a:avLst>
          </a:prstGeom>
          <a:solidFill>
            <a:srgbClr val="0D0D0D"/>
          </a:solidFill>
          <a:ln w="12700">
            <a:solidFill>
              <a:srgbClr val="D95926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3749040" y="205740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 browser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166360" y="205740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0" y="2057400"/>
            <a:ext cx="1371600" cy="411480"/>
          </a:xfrm>
          <a:prstGeom prst="roundRect">
            <a:avLst>
              <a:gd name="adj" fmla="val 13333"/>
            </a:avLst>
          </a:prstGeom>
          <a:solidFill>
            <a:srgbClr val="0D0D0D"/>
          </a:solidFill>
          <a:ln w="12700">
            <a:solidFill>
              <a:srgbClr val="D95926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4" name="Text 12"/>
          <p:cNvSpPr/>
          <p:nvPr/>
        </p:nvSpPr>
        <p:spPr>
          <a:xfrm>
            <a:off x="5486400" y="205740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through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903720" y="205740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223760" y="2057400"/>
            <a:ext cx="1371600" cy="411480"/>
          </a:xfrm>
          <a:prstGeom prst="roundRect">
            <a:avLst>
              <a:gd name="adj" fmla="val 13333"/>
            </a:avLst>
          </a:prstGeom>
          <a:solidFill>
            <a:srgbClr val="0D0D0D"/>
          </a:solidFill>
          <a:ln w="12700">
            <a:solidFill>
              <a:srgbClr val="D95926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Text 15"/>
          <p:cNvSpPr/>
          <p:nvPr/>
        </p:nvSpPr>
        <p:spPr>
          <a:xfrm>
            <a:off x="7223760" y="205740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result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732520" y="2057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iteration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260604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call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011680" y="2606040"/>
            <a:ext cx="1371600" cy="411480"/>
          </a:xfrm>
          <a:prstGeom prst="roundRect">
            <a:avLst>
              <a:gd name="adj" fmla="val 13333"/>
            </a:avLst>
          </a:prstGeom>
          <a:solidFill>
            <a:srgbClr val="0D0D0D"/>
          </a:solidFill>
          <a:ln w="12700">
            <a:solidFill>
              <a:srgbClr val="3987E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1" name="Text 19"/>
          <p:cNvSpPr/>
          <p:nvPr/>
        </p:nvSpPr>
        <p:spPr>
          <a:xfrm>
            <a:off x="2011680" y="260604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29000" y="260604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749040" y="2606040"/>
            <a:ext cx="1371600" cy="411480"/>
          </a:xfrm>
          <a:prstGeom prst="roundRect">
            <a:avLst>
              <a:gd name="adj" fmla="val 13333"/>
            </a:avLst>
          </a:prstGeom>
          <a:solidFill>
            <a:srgbClr val="0D0D0D"/>
          </a:solidFill>
          <a:ln w="12700">
            <a:solidFill>
              <a:srgbClr val="3987E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4" name="Text 22"/>
          <p:cNvSpPr/>
          <p:nvPr/>
        </p:nvSpPr>
        <p:spPr>
          <a:xfrm>
            <a:off x="3749040" y="260604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operation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166360" y="260604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0" y="2606040"/>
            <a:ext cx="1371600" cy="411480"/>
          </a:xfrm>
          <a:prstGeom prst="roundRect">
            <a:avLst>
              <a:gd name="adj" fmla="val 13333"/>
            </a:avLst>
          </a:prstGeom>
          <a:solidFill>
            <a:srgbClr val="0D0D0D"/>
          </a:solidFill>
          <a:ln w="12700">
            <a:solidFill>
              <a:srgbClr val="3987E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7" name="Text 25"/>
          <p:cNvSpPr/>
          <p:nvPr/>
        </p:nvSpPr>
        <p:spPr>
          <a:xfrm>
            <a:off x="5486400" y="260604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result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95160" y="2606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dozens of iterations, same time budget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329184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loop itself is an AI agent driving Playwright, it compounds twice — it has to re-read the page after every click too: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080" y="384048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READ PER VERIFICATION, BOOKING FLOW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call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423160" y="4160520"/>
            <a:ext cx="7711135" cy="365760"/>
          </a:xfrm>
          <a:prstGeom prst="roundRect">
            <a:avLst>
              <a:gd name="adj" fmla="val 12500"/>
            </a:avLst>
          </a:prstGeom>
          <a:solidFill>
            <a:srgbClr val="2C2C2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3" name="Shape 31"/>
          <p:cNvSpPr/>
          <p:nvPr/>
        </p:nvSpPr>
        <p:spPr>
          <a:xfrm>
            <a:off x="2423160" y="4160520"/>
            <a:ext cx="123378" cy="365760"/>
          </a:xfrm>
          <a:prstGeom prst="roundRect">
            <a:avLst>
              <a:gd name="adj" fmla="val 37057"/>
            </a:avLst>
          </a:prstGeom>
          <a:solidFill>
            <a:srgbClr val="3987E5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4" name="Text 32"/>
          <p:cNvSpPr/>
          <p:nvPr/>
        </p:nvSpPr>
        <p:spPr>
          <a:xfrm>
            <a:off x="10271455" y="416052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 tok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" y="46634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+ Playwright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423160" y="4663440"/>
            <a:ext cx="7711135" cy="365760"/>
          </a:xfrm>
          <a:prstGeom prst="roundRect">
            <a:avLst>
              <a:gd name="adj" fmla="val 12500"/>
            </a:avLst>
          </a:prstGeom>
          <a:solidFill>
            <a:srgbClr val="2C2C2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7" name="Shape 35"/>
          <p:cNvSpPr/>
          <p:nvPr/>
        </p:nvSpPr>
        <p:spPr>
          <a:xfrm>
            <a:off x="2423160" y="4663440"/>
            <a:ext cx="7711135" cy="365760"/>
          </a:xfrm>
          <a:prstGeom prst="roundRect">
            <a:avLst>
              <a:gd name="adj" fmla="val 12500"/>
            </a:avLst>
          </a:prstGeom>
          <a:solidFill>
            <a:srgbClr val="D95926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8" name="Text 36"/>
          <p:cNvSpPr/>
          <p:nvPr/>
        </p:nvSpPr>
        <p:spPr>
          <a:xfrm>
            <a:off x="10271455" y="46634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5,721 tok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" y="521208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~63× more tokens just to observe the page — a fresh accessibility snapshot after every click.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0080" y="5623560"/>
            <a:ext cx="10911535" cy="960120"/>
          </a:xfrm>
          <a:prstGeom prst="rect">
            <a:avLst/>
          </a:prstGeom>
          <a:solidFill>
            <a:srgbClr val="0D0D0D"/>
          </a:solidFill>
          <a:ln w="38100">
            <a:solidFill>
              <a:srgbClr val="3987E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1" name="Text 39"/>
          <p:cNvSpPr/>
          <p:nvPr/>
        </p:nvSpPr>
        <p:spPr>
          <a:xfrm>
            <a:off x="868680" y="5715000"/>
            <a:ext cx="104543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because the agent got smarter. Because the loop it depends on got 100–1,000× tighter — and stopped paying a re-read tax on every step.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28655" y="274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FAR · SO NEXT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up to now made you faster.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329184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Testing, CI cost, the dev loop — all payoffs for the team writing the code.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the platform has a second user: an AI agent, acting on someone else's behalf.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93776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operations layer. A different caller.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28655" y="274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PROTOCOL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NavWebMcp — MCP as transport, not architecture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your business logic already lives in its own layer, exposing it to an agent is the easy part.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1091153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Composite operations — one call replaces three or seven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Progressive disclosure — a handful of tools at connect, the rest on demand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RBAC &amp; confirmation, enforced once — same checks your UI already respects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registry, two surfaces — nothing re-implemented as "the agent version"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5029200"/>
            <a:ext cx="10911535" cy="822960"/>
          </a:xfrm>
          <a:prstGeom prst="rect">
            <a:avLst/>
          </a:prstGeom>
          <a:solidFill>
            <a:srgbClr val="0D0D0D"/>
          </a:solidFill>
          <a:ln w="38100">
            <a:solidFill>
              <a:srgbClr val="3987E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Text 6"/>
          <p:cNvSpPr/>
          <p:nvPr/>
        </p:nvSpPr>
        <p:spPr>
          <a:xfrm>
            <a:off x="868680" y="5120640"/>
            <a:ext cx="10454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did the architecture right, this layer is nearly mechanical to add. That's the point.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28655" y="274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PROTOCOL · UNDER THE HOOD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meta-tools. Nothing else to install.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522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522716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–"/>
            </a:pPr>
            <a:r>
              <a:rPr lang="en-US" sz="14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— walk the module tree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–"/>
            </a:pPr>
            <a:r>
              <a:rPr lang="en-US" sz="14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— glob for operations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–"/>
            </a:pPr>
            <a:r>
              <a:rPr lang="en-US" sz="14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describe_tool — get the schema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24448" y="1920240"/>
            <a:ext cx="522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&amp; SESSION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24448" y="2286000"/>
            <a:ext cx="522716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–"/>
            </a:pPr>
            <a:r>
              <a:rPr lang="en-US" sz="14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invoke — call any op directly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–"/>
            </a:pPr>
            <a:r>
              <a:rPr lang="en-US" sz="14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load_tools / unload_tools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–"/>
            </a:pPr>
            <a:r>
              <a:rPr lang="en-US" sz="14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getContext / getCapabilities — preflight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REGISTRATION, ALL EIGHT TOOLS READ IT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6035040"/>
            <a:ext cx="10911535" cy="685800"/>
          </a:xfrm>
          <a:prstGeom prst="rect">
            <a:avLst/>
          </a:prstGeom>
          <a:solidFill>
            <a:srgbClr val="0D0D0D"/>
          </a:solidFill>
          <a:ln w="38100">
            <a:solidFill>
              <a:srgbClr val="3987E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2" name="Text 10"/>
          <p:cNvSpPr/>
          <p:nvPr/>
        </p:nvSpPr>
        <p:spPr>
          <a:xfrm>
            <a:off x="868680" y="6126480"/>
            <a:ext cx="104543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completely standard MCP client — Claude Desktop, Claude Code, MCP Inspector. No custom transport. No fork. No special build.</a:t>
            </a:r>
            <a:endParaRPr lang="en-US" sz="12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6F4B19D-F068-5B0F-EBF1-D637A5565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001388"/>
            <a:ext cx="8606990" cy="19101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28655" y="274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 · BOOKING 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per booking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booking, three ways: raw MCP, raw WebMCP, and one NavWebMcp composite call.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MCP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23160" y="2286000"/>
            <a:ext cx="7711135" cy="365760"/>
          </a:xfrm>
          <a:prstGeom prst="roundRect">
            <a:avLst>
              <a:gd name="adj" fmla="val 12500"/>
            </a:avLst>
          </a:prstGeom>
          <a:solidFill>
            <a:srgbClr val="2C2C2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8" name="Shape 6"/>
          <p:cNvSpPr/>
          <p:nvPr/>
        </p:nvSpPr>
        <p:spPr>
          <a:xfrm>
            <a:off x="2423160" y="2286000"/>
            <a:ext cx="7711135" cy="365760"/>
          </a:xfrm>
          <a:prstGeom prst="roundRect">
            <a:avLst>
              <a:gd name="adj" fmla="val 12500"/>
            </a:avLst>
          </a:prstGeom>
          <a:solidFill>
            <a:srgbClr val="89878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9" name="Text 7"/>
          <p:cNvSpPr/>
          <p:nvPr/>
        </p:nvSpPr>
        <p:spPr>
          <a:xfrm>
            <a:off x="10271455" y="22860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366 tok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7889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WebMCP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23160" y="2788920"/>
            <a:ext cx="7711135" cy="365760"/>
          </a:xfrm>
          <a:prstGeom prst="roundRect">
            <a:avLst>
              <a:gd name="adj" fmla="val 12500"/>
            </a:avLst>
          </a:prstGeom>
          <a:solidFill>
            <a:srgbClr val="2C2C2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2" name="Shape 10"/>
          <p:cNvSpPr/>
          <p:nvPr/>
        </p:nvSpPr>
        <p:spPr>
          <a:xfrm>
            <a:off x="2423160" y="2788920"/>
            <a:ext cx="5459484" cy="365760"/>
          </a:xfrm>
          <a:prstGeom prst="roundRect">
            <a:avLst>
              <a:gd name="adj" fmla="val 12500"/>
            </a:avLst>
          </a:prstGeom>
          <a:solidFill>
            <a:srgbClr val="89878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3" name="Text 11"/>
          <p:cNvSpPr/>
          <p:nvPr/>
        </p:nvSpPr>
        <p:spPr>
          <a:xfrm>
            <a:off x="10271455" y="278892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259 tok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2918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NavWebMcp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423160" y="3291840"/>
            <a:ext cx="7711135" cy="365760"/>
          </a:xfrm>
          <a:prstGeom prst="roundRect">
            <a:avLst>
              <a:gd name="adj" fmla="val 12500"/>
            </a:avLst>
          </a:prstGeom>
          <a:solidFill>
            <a:srgbClr val="2C2C2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6" name="Shape 14"/>
          <p:cNvSpPr/>
          <p:nvPr/>
        </p:nvSpPr>
        <p:spPr>
          <a:xfrm>
            <a:off x="2423160" y="3291840"/>
            <a:ext cx="1920073" cy="365760"/>
          </a:xfrm>
          <a:prstGeom prst="roundRect">
            <a:avLst>
              <a:gd name="adj" fmla="val 12500"/>
            </a:avLst>
          </a:prstGeom>
          <a:solidFill>
            <a:srgbClr val="3987E5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7" name="Text 15"/>
          <p:cNvSpPr/>
          <p:nvPr/>
        </p:nvSpPr>
        <p:spPr>
          <a:xfrm>
            <a:off x="10271455" y="32918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 tok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931920"/>
            <a:ext cx="164592" cy="164592"/>
          </a:xfrm>
          <a:prstGeom prst="rect">
            <a:avLst/>
          </a:prstGeom>
          <a:solidFill>
            <a:srgbClr val="89878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9" name="Text 17"/>
          <p:cNvSpPr/>
          <p:nvPr/>
        </p:nvSpPr>
        <p:spPr>
          <a:xfrm>
            <a:off x="868680" y="38862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multi-call (3 calls)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566160" y="3931920"/>
            <a:ext cx="164592" cy="164592"/>
          </a:xfrm>
          <a:prstGeom prst="rect">
            <a:avLst/>
          </a:prstGeom>
          <a:solidFill>
            <a:srgbClr val="3987E5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Text 19"/>
          <p:cNvSpPr/>
          <p:nvPr/>
        </p:nvSpPr>
        <p:spPr>
          <a:xfrm>
            <a:off x="379476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NavWebMcp composite (1 call)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480560"/>
            <a:ext cx="10911535" cy="914400"/>
          </a:xfrm>
          <a:prstGeom prst="rect">
            <a:avLst/>
          </a:prstGeom>
          <a:solidFill>
            <a:srgbClr val="0D0D0D"/>
          </a:solidFill>
          <a:ln w="38100">
            <a:solidFill>
              <a:srgbClr val="3987E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3" name="Text 21"/>
          <p:cNvSpPr/>
          <p:nvPr/>
        </p:nvSpPr>
        <p:spPr>
          <a:xfrm>
            <a:off x="868680" y="4572000"/>
            <a:ext cx="104543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−75% tokens vs. raw calls over MCP, −65% vs. the same raw calls made from inside the browser — one composite call beats raw multi-call on every surface.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28655" y="274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 · BOOKING 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 per booking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Playwright shown separately — a different way of interacting with the app entirely.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MCP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23160" y="2286000"/>
            <a:ext cx="7711135" cy="365760"/>
          </a:xfrm>
          <a:prstGeom prst="roundRect">
            <a:avLst>
              <a:gd name="adj" fmla="val 12500"/>
            </a:avLst>
          </a:prstGeom>
          <a:solidFill>
            <a:srgbClr val="2C2C2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8" name="Shape 6"/>
          <p:cNvSpPr/>
          <p:nvPr/>
        </p:nvSpPr>
        <p:spPr>
          <a:xfrm>
            <a:off x="2423160" y="2286000"/>
            <a:ext cx="2891676" cy="365760"/>
          </a:xfrm>
          <a:prstGeom prst="roundRect">
            <a:avLst>
              <a:gd name="adj" fmla="val 12500"/>
            </a:avLst>
          </a:prstGeom>
          <a:solidFill>
            <a:srgbClr val="89878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9" name="Text 7"/>
          <p:cNvSpPr/>
          <p:nvPr/>
        </p:nvSpPr>
        <p:spPr>
          <a:xfrm>
            <a:off x="10271455" y="22860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7889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WebMCP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23160" y="2788920"/>
            <a:ext cx="7711135" cy="365760"/>
          </a:xfrm>
          <a:prstGeom prst="roundRect">
            <a:avLst>
              <a:gd name="adj" fmla="val 12500"/>
            </a:avLst>
          </a:prstGeom>
          <a:solidFill>
            <a:srgbClr val="2C2C2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2" name="Shape 10"/>
          <p:cNvSpPr/>
          <p:nvPr/>
        </p:nvSpPr>
        <p:spPr>
          <a:xfrm>
            <a:off x="2423160" y="2788920"/>
            <a:ext cx="7711135" cy="365760"/>
          </a:xfrm>
          <a:prstGeom prst="roundRect">
            <a:avLst>
              <a:gd name="adj" fmla="val 12500"/>
            </a:avLst>
          </a:prstGeom>
          <a:solidFill>
            <a:srgbClr val="89878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3" name="Text 11"/>
          <p:cNvSpPr/>
          <p:nvPr/>
        </p:nvSpPr>
        <p:spPr>
          <a:xfrm>
            <a:off x="10271455" y="278892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2918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NavWebMcp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423160" y="3291840"/>
            <a:ext cx="7711135" cy="365760"/>
          </a:xfrm>
          <a:prstGeom prst="roundRect">
            <a:avLst>
              <a:gd name="adj" fmla="val 12500"/>
            </a:avLst>
          </a:prstGeom>
          <a:solidFill>
            <a:srgbClr val="2C2C2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6" name="Shape 14"/>
          <p:cNvSpPr/>
          <p:nvPr/>
        </p:nvSpPr>
        <p:spPr>
          <a:xfrm>
            <a:off x="2423160" y="3291840"/>
            <a:ext cx="963892" cy="365760"/>
          </a:xfrm>
          <a:prstGeom prst="roundRect">
            <a:avLst>
              <a:gd name="adj" fmla="val 12500"/>
            </a:avLst>
          </a:prstGeom>
          <a:solidFill>
            <a:srgbClr val="3987E5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7" name="Text 15"/>
          <p:cNvSpPr/>
          <p:nvPr/>
        </p:nvSpPr>
        <p:spPr>
          <a:xfrm>
            <a:off x="10271455" y="32918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886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Playwright (UI)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423160" y="3886200"/>
            <a:ext cx="7711135" cy="365760"/>
          </a:xfrm>
          <a:prstGeom prst="roundRect">
            <a:avLst>
              <a:gd name="adj" fmla="val 12500"/>
            </a:avLst>
          </a:prstGeom>
          <a:solidFill>
            <a:srgbClr val="2C2C2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0" name="Shape 18"/>
          <p:cNvSpPr/>
          <p:nvPr/>
        </p:nvSpPr>
        <p:spPr>
          <a:xfrm>
            <a:off x="2423160" y="3886200"/>
            <a:ext cx="7711135" cy="365760"/>
          </a:xfrm>
          <a:prstGeom prst="roundRect">
            <a:avLst>
              <a:gd name="adj" fmla="val 12500"/>
            </a:avLst>
          </a:prstGeom>
          <a:solidFill>
            <a:srgbClr val="D95926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Text 19"/>
          <p:cNvSpPr/>
          <p:nvPr/>
        </p:nvSpPr>
        <p:spPr>
          <a:xfrm>
            <a:off x="10271455" y="38862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342 ms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443484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Playwright scaled on its own axis (max = 342ms) — not directly comparable to the rows above.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4937760"/>
            <a:ext cx="10911535" cy="914400"/>
          </a:xfrm>
          <a:prstGeom prst="rect">
            <a:avLst/>
          </a:prstGeom>
          <a:solidFill>
            <a:srgbClr val="0D0D0D"/>
          </a:solidFill>
          <a:ln w="38100">
            <a:solidFill>
              <a:srgbClr val="3987E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4" name="Text 22"/>
          <p:cNvSpPr/>
          <p:nvPr/>
        </p:nvSpPr>
        <p:spPr>
          <a:xfrm>
            <a:off x="868680" y="5029200"/>
            <a:ext cx="104543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−67% latency vs. raw MCP, −88% vs. the same raw calls made from a browser page — the composite call wins even against the surface it's supposedly "slower" on.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28655" y="274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 · IT COMPOUNDS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bigger the flow, the bigger the win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698480" cy="201168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8987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8987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calls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8987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Composite calls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8987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 saving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8987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Latency saving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 — 3-op booking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3C2B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3C2B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3C2B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−75%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3C2B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−67%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journey — book + seat a guest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3C2B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3C2B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3C2B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−81%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3C2B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−63%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vip — 7-op chain, CRM + front desk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−87%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2C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02336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vip has no Playwright row — no UI exists for that domain. A limit browser automation has that a composite call doesn't.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28655" y="274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PUTTING IT TOGETHER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payoffs, one architecture decision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1691640"/>
            <a:ext cx="1036289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Testing: </a:t>
            </a:r>
            <a:r>
              <a:rPr lang="en-US" sz="14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calls instead of a browser — up to 1,314× faster per test.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58568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2258568"/>
            <a:ext cx="1036289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DevOps &amp; FinOps: </a:t>
            </a:r>
            <a:r>
              <a:rPr lang="en-US" sz="14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separation lets every commit run every test without your cloud bill or your CI queue noticing.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825496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2825496"/>
            <a:ext cx="1036289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loop: </a:t>
            </a:r>
            <a:r>
              <a:rPr lang="en-US" sz="14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tight loop that helps your tests helps your AI coding agent iterate — 100–1,000× tighter.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392424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3392424"/>
            <a:ext cx="1036289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Protocol: </a:t>
            </a:r>
            <a:r>
              <a:rPr lang="en-US" sz="14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NavWebMcp, a thin layer on top of MCP, makes agent-exposure mechanical instead of a redesign.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3959352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959352"/>
            <a:ext cx="1036289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study: </a:t>
            </a:r>
            <a:r>
              <a:rPr lang="en-US" sz="14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−68 to −75% tokens, −67 to −87% latency, measured on the exact operations your UI already calls.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663440"/>
            <a:ext cx="10911535" cy="914400"/>
          </a:xfrm>
          <a:prstGeom prst="rect">
            <a:avLst/>
          </a:prstGeom>
          <a:solidFill>
            <a:srgbClr val="0D0D0D"/>
          </a:solidFill>
          <a:ln w="38100">
            <a:solidFill>
              <a:srgbClr val="3987E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6" name="Text 14"/>
          <p:cNvSpPr/>
          <p:nvPr/>
        </p:nvSpPr>
        <p:spPr>
          <a:xfrm>
            <a:off x="868680" y="4754880"/>
            <a:ext cx="104543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of this started with "add an MCP server." It started with a much older, much less glamorous decision: where does your business logic actually live?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28655" y="274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246888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don't bend your platform to fit AI.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338328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just stop making AI the first thing that has to bend.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457200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— AI-Driven Development</a:t>
            </a:r>
            <a:r>
              <a:rPr lang="en-US" sz="14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1400" dirty="0">
                <a:solidFill>
                  <a:srgbClr val="C3C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welcome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1858</Words>
  <Application>Microsoft Office PowerPoint</Application>
  <PresentationFormat>Widescreen</PresentationFormat>
  <Paragraphs>275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Eliad Cohen</cp:lastModifiedBy>
  <cp:revision>2</cp:revision>
  <dcterms:created xsi:type="dcterms:W3CDTF">2026-08-05T13:18:20Z</dcterms:created>
  <dcterms:modified xsi:type="dcterms:W3CDTF">2026-08-05T13:22:44Z</dcterms:modified>
</cp:coreProperties>
</file>